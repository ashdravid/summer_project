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4" r:id="rId5"/>
    <p:sldId id="258" r:id="rId6"/>
    <p:sldId id="263" r:id="rId7"/>
    <p:sldId id="270" r:id="rId8"/>
    <p:sldId id="262" r:id="rId9"/>
    <p:sldId id="265" r:id="rId10"/>
    <p:sldId id="268" r:id="rId11"/>
    <p:sldId id="26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8" autoAdjust="0"/>
    <p:restoredTop sz="94660"/>
  </p:normalViewPr>
  <p:slideViewPr>
    <p:cSldViewPr snapToGrid="0">
      <p:cViewPr varScale="1">
        <p:scale>
          <a:sx n="92" d="100"/>
          <a:sy n="92" d="100"/>
        </p:scale>
        <p:origin x="76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D1D6-FD27-497D-924D-B1C938A22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56782-50BA-465D-AA7C-5849A6A93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F423-44F2-4375-8345-53E8A100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35D6F-D284-463E-BC2C-9EE2D64C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EF7EE-F286-4E9E-B28D-025C2B17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2496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51AA-A095-422E-A31C-EE4A532D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5200-3BFB-4B33-8F8C-E0E44C165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5FEEF-4258-44D0-BDAC-C3FC800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2D892-AC63-4C3D-AFB5-F71F86B5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32B55-44D2-4444-894D-16D74C57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5680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E301-44B5-4B80-80A0-F6DBD45E3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A0F2B-A2A3-4F64-9D5F-9EFA76E60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44DF-E90F-4386-A8FB-99EA64BB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EF3F7-47DB-4A06-8605-0F6148C0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D5D57-CCEC-457C-A5FE-B4106493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9862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B12F-3B72-4D28-A990-2BAA70CD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0B3A9-665A-47C7-90C1-8482FEAF9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54BAC-A1B0-42B9-8D66-F9A299563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5D61A-9904-46BF-AE74-86F8B3E7E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C7292-48F7-48BE-B91C-FDDE1BA9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74B32-4F50-4350-AD26-C3253420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00906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6C00-CD9C-4C1D-9410-B29597E2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74BFD-26F7-4DFD-97BF-2BF5DA949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43FAD-415A-4F44-8E3E-FF558B57E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24F21-69E2-4721-814D-B031D3DFA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24A37-5000-40FF-B38F-2885DD6B5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A0605-B9AF-43BC-A121-B1A68050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9816F9-E919-4D5B-94D0-8E218179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864CF1-4F1C-4E7A-9B56-A2ED7999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874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8DF3-CC35-45B7-B34F-F6A13E0D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A7624-DD9A-4EB3-852F-C665469E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76379-5CBD-4351-9476-64F6E056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22A34-911C-4A59-9396-922AC20B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3213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67CC0B-3ED6-46BC-93DA-2184EAAE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1FFC7-8EFF-4B75-8F25-76CA6FDE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4637B-43AF-4022-BC7B-0809D614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11167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DE4E-EF9E-43E1-BCD1-E848D2A2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0560D-A383-4957-A2CB-C7E59821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38E78-4E53-43FC-92AF-8DEEC0D28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02E4A-7969-4D48-BDE3-671D75BC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7DD80-AD4B-450A-B62D-17BA25B3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C3218-6D5A-4554-BB9A-34CA42C5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0546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1398C-6932-41A9-976B-9BE09100E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70ED5-8F66-4E03-96A2-934FCCCAB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2A0C1-435D-470E-9110-592AAB98F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9271B-7A33-4AFA-A658-91F4FB73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17A59-6CD7-472B-9776-75F2B91F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E823C-7B84-4B98-8293-F50E6C33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5281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1761-0F0F-4F93-AC59-176DD058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1B356-7B9B-4E93-8A3F-4A3EC3330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5B128-5B88-4BE6-B35E-5FEE0E60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0632-29B5-40CB-9E7B-140524A1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83EC0-DC0C-4BDE-A305-3EAB7AB9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9296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5DB25-EFE7-4F9C-B164-67AFA2E9B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25885-2552-4D99-B6E1-A89D9CFC6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38DFC-841D-4E6A-B95F-C6D4B4D8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D0A0E-006C-4603-8020-084541AC6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8B94-107B-45E6-A6F7-84826722B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34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D5BB93-229F-4808-89CE-25F943C82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97320-36C9-4875-9ECB-3BB3D1181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5ADA1-0865-43DD-9F78-47BFAAC36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2597C-E8D4-4854-A27C-90BD376D5073}" type="datetimeFigureOut">
              <a:rPr lang="en-NZ" smtClean="0"/>
              <a:t>26/02/2021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C4E53-5176-4925-932C-42C5C70AD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AA7F3-477B-40F3-82FB-3717A8A53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1A098-438A-454F-8770-89DB648896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5720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D9AB-4BE3-45DD-9300-DDBE407D9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3057" y="16760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NZ" dirty="0"/>
              <a:t>Algorithmic Fairness in Cardiovascular Precision Medicine</a:t>
            </a:r>
          </a:p>
        </p:txBody>
      </p:sp>
    </p:spTree>
    <p:extLst>
      <p:ext uri="{BB962C8B-B14F-4D97-AF65-F5344CB8AC3E}">
        <p14:creationId xmlns:p14="http://schemas.microsoft.com/office/powerpoint/2010/main" val="264657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01DF-F40F-4B9F-B0AB-8C3320BC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What is algorithmic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EAC55-421C-4B74-8C25-8A0AA7D6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3600" dirty="0"/>
              <a:t>Algorithms are increasingly used to make decisions</a:t>
            </a:r>
          </a:p>
          <a:p>
            <a:r>
              <a:rPr lang="en-NZ" sz="3600" dirty="0"/>
              <a:t>Algorithms are not perfect – they can lead to biased decisions</a:t>
            </a:r>
          </a:p>
          <a:p>
            <a:r>
              <a:rPr lang="en-NZ" sz="3600" dirty="0"/>
              <a:t>Fairness aims to acknowledge and reduce potential sources of bias</a:t>
            </a:r>
          </a:p>
          <a:p>
            <a:r>
              <a:rPr lang="en-NZ" sz="3600" dirty="0"/>
              <a:t>Reduces the impact of negatively affecting members of a certain class </a:t>
            </a:r>
          </a:p>
          <a:p>
            <a:endParaRPr lang="en-NZ" sz="3600" dirty="0"/>
          </a:p>
        </p:txBody>
      </p:sp>
    </p:spTree>
    <p:extLst>
      <p:ext uri="{BB962C8B-B14F-4D97-AF65-F5344CB8AC3E}">
        <p14:creationId xmlns:p14="http://schemas.microsoft.com/office/powerpoint/2010/main" val="64648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BAE8-04AD-4A23-917F-3AABDB53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Sources of Unfairness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76533-68BC-47FB-B658-E5DDAA64B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Bias within the training dataset</a:t>
            </a:r>
          </a:p>
          <a:p>
            <a:pPr lvl="1"/>
            <a:r>
              <a:rPr lang="en-NZ" dirty="0"/>
              <a:t>Training dataset has a large proportion of a certain class and underrepresents other classes</a:t>
            </a:r>
          </a:p>
          <a:p>
            <a:r>
              <a:rPr lang="en-NZ" dirty="0"/>
              <a:t>Missing data</a:t>
            </a:r>
          </a:p>
          <a:p>
            <a:r>
              <a:rPr lang="en-NZ" dirty="0"/>
              <a:t>Algorithm Selection</a:t>
            </a:r>
          </a:p>
          <a:p>
            <a:pPr lvl="1"/>
            <a:r>
              <a:rPr lang="en-NZ" dirty="0"/>
              <a:t>Algorithm aims to minimise overall prediction error, so benefits majority groups over minority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8605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A44B-9D8B-4341-AA9D-9A5C6018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CAF4D-1587-48F5-AC53-6B44D8F9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3600" dirty="0"/>
              <a:t>Build a machine learning model to predict cardiovascular disease outcome  (using </a:t>
            </a:r>
            <a:r>
              <a:rPr lang="en-NZ" sz="3600" dirty="0" err="1"/>
              <a:t>Gensini</a:t>
            </a:r>
            <a:r>
              <a:rPr lang="en-NZ" sz="3600" dirty="0"/>
              <a:t> Index as a binary classifier)</a:t>
            </a:r>
          </a:p>
          <a:p>
            <a:r>
              <a:rPr lang="en-NZ" sz="3600" dirty="0"/>
              <a:t>Assess the fairness of the model and implement methods to improve fairness of the model</a:t>
            </a:r>
          </a:p>
        </p:txBody>
      </p:sp>
    </p:spTree>
    <p:extLst>
      <p:ext uri="{BB962C8B-B14F-4D97-AF65-F5344CB8AC3E}">
        <p14:creationId xmlns:p14="http://schemas.microsoft.com/office/powerpoint/2010/main" val="419682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CCA3-7561-4495-87F2-D9570427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Common Fairness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8B419-BA0F-439A-932C-C7B5C1A06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3200" dirty="0"/>
              <a:t>Accuracy Parity: Checks if accuracy of algorithm is equal across different classes of sensitive attribute</a:t>
            </a:r>
          </a:p>
          <a:p>
            <a:r>
              <a:rPr lang="en-NZ" sz="3200" dirty="0"/>
              <a:t>Equalized odds: Checks if algorithm predict a particular label (i.e. disease presence) equally well for all values of sensitive attribute</a:t>
            </a:r>
          </a:p>
          <a:p>
            <a:r>
              <a:rPr lang="en-NZ" sz="3200" dirty="0"/>
              <a:t>Demographic Parity: Checks if models classifications (i.e. disease presence) are independent of sensitive attribute</a:t>
            </a:r>
          </a:p>
          <a:p>
            <a:endParaRPr lang="en-NZ" sz="3200" dirty="0"/>
          </a:p>
        </p:txBody>
      </p:sp>
    </p:spTree>
    <p:extLst>
      <p:ext uri="{BB962C8B-B14F-4D97-AF65-F5344CB8AC3E}">
        <p14:creationId xmlns:p14="http://schemas.microsoft.com/office/powerpoint/2010/main" val="2674300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CCA3-7561-4495-87F2-D9570427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Common Fairness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8B419-BA0F-439A-932C-C7B5C1A06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3200" dirty="0">
                <a:highlight>
                  <a:srgbClr val="FFFF00"/>
                </a:highlight>
              </a:rPr>
              <a:t>Accuracy Parity: Checks if accuracy of algorithm is equal across different classes of sensitive attribute</a:t>
            </a:r>
          </a:p>
          <a:p>
            <a:r>
              <a:rPr lang="en-NZ" sz="3200" dirty="0"/>
              <a:t>Equalized odds: Checks if algorithm predict a particular label (i.e. disease presence) equally well for all values of sensitive attribute</a:t>
            </a:r>
          </a:p>
          <a:p>
            <a:r>
              <a:rPr lang="en-NZ" sz="3200" dirty="0"/>
              <a:t>Demographic Parity: Checks if models classifications (i.e. disease presence) are independent of sensitive attribute</a:t>
            </a:r>
          </a:p>
          <a:p>
            <a:endParaRPr lang="en-NZ" sz="3200" dirty="0"/>
          </a:p>
        </p:txBody>
      </p:sp>
    </p:spTree>
    <p:extLst>
      <p:ext uri="{BB962C8B-B14F-4D97-AF65-F5344CB8AC3E}">
        <p14:creationId xmlns:p14="http://schemas.microsoft.com/office/powerpoint/2010/main" val="80327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5746-845F-4CBE-8B21-DAA4250D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Accuracy parity plot of logistic regression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069E33-F43F-404B-9D16-7194CED6B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73" y="1921447"/>
            <a:ext cx="7403174" cy="457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07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F485-4CEF-4CAB-AE03-063CED56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Enhancing Fairness of Algorithm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62A47-F1AE-4BAF-A1AB-E06257D4D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Pre-Process</a:t>
            </a:r>
          </a:p>
          <a:p>
            <a:pPr lvl="1"/>
            <a:r>
              <a:rPr lang="en-NZ" dirty="0"/>
              <a:t>Change the training data </a:t>
            </a:r>
            <a:r>
              <a:rPr lang="en-NZ" b="1" dirty="0"/>
              <a:t>BEFORE</a:t>
            </a:r>
            <a:r>
              <a:rPr lang="en-NZ" dirty="0"/>
              <a:t> feeding into algorithm</a:t>
            </a:r>
          </a:p>
          <a:p>
            <a:pPr lvl="1"/>
            <a:r>
              <a:rPr lang="en-NZ" dirty="0"/>
              <a:t>E.g. Reweighting of data</a:t>
            </a:r>
          </a:p>
          <a:p>
            <a:pPr lvl="2"/>
            <a:r>
              <a:rPr lang="en-NZ" dirty="0"/>
              <a:t>Assigning weights to each subgroup in each class (i.e. different weights for each ethnicity + disease outcome combination)</a:t>
            </a:r>
          </a:p>
          <a:p>
            <a:r>
              <a:rPr lang="en-NZ" dirty="0"/>
              <a:t>Post-process</a:t>
            </a:r>
          </a:p>
          <a:p>
            <a:pPr lvl="1"/>
            <a:r>
              <a:rPr lang="en-NZ" dirty="0"/>
              <a:t>Processing output score of classifier</a:t>
            </a:r>
          </a:p>
          <a:p>
            <a:pPr lvl="1"/>
            <a:r>
              <a:rPr lang="en-NZ" dirty="0"/>
              <a:t>E.g. Reject Option Based classification (ROC classification)</a:t>
            </a:r>
          </a:p>
          <a:p>
            <a:pPr lvl="2"/>
            <a:r>
              <a:rPr lang="en-NZ" dirty="0"/>
              <a:t>Changes classification of disease outcome</a:t>
            </a:r>
            <a:endParaRPr lang="en-NZ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GB" dirty="0"/>
              <a:t>1. When unprivileged subgroup is within (0.4, 0.5) then 0 </a:t>
            </a:r>
            <a:r>
              <a:rPr lang="en-GB" dirty="0">
                <a:sym typeface="Wingdings" panose="05000000000000000000" pitchFamily="2" charset="2"/>
              </a:rPr>
              <a:t> 1</a:t>
            </a:r>
            <a:endParaRPr lang="en-GB" dirty="0"/>
          </a:p>
          <a:p>
            <a:pPr lvl="2"/>
            <a:r>
              <a:rPr lang="en-GB" dirty="0"/>
              <a:t>2. When privileged subgroup is within (0.5, 0.6) then 1 </a:t>
            </a:r>
            <a:r>
              <a:rPr lang="en-GB" dirty="0">
                <a:sym typeface="Wingdings" panose="05000000000000000000" pitchFamily="2" charset="2"/>
              </a:rPr>
              <a:t> 0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6053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078CC15-3B10-495B-8408-F96169567105}"/>
              </a:ext>
            </a:extLst>
          </p:cNvPr>
          <p:cNvSpPr txBox="1"/>
          <p:nvPr/>
        </p:nvSpPr>
        <p:spPr>
          <a:xfrm>
            <a:off x="5411895" y="5373108"/>
            <a:ext cx="298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Overall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2106F0-D7CA-42D2-BF12-03AE21494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95" y="645117"/>
            <a:ext cx="6526210" cy="454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08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5EC054-3839-42F9-989D-41CA45C4094A}"/>
              </a:ext>
            </a:extLst>
          </p:cNvPr>
          <p:cNvSpPr txBox="1"/>
          <p:nvPr/>
        </p:nvSpPr>
        <p:spPr>
          <a:xfrm>
            <a:off x="2249059" y="4813575"/>
            <a:ext cx="298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Female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CEDB8-ADCF-4990-B01A-2B1DD95212BD}"/>
              </a:ext>
            </a:extLst>
          </p:cNvPr>
          <p:cNvSpPr txBox="1"/>
          <p:nvPr/>
        </p:nvSpPr>
        <p:spPr>
          <a:xfrm>
            <a:off x="8280402" y="4813575"/>
            <a:ext cx="298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Male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E7237D-E177-478F-AB35-0E7FF268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940" y="1432368"/>
            <a:ext cx="4734585" cy="32056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E5A99D-2774-49E9-85C8-75BE4639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75" y="1354163"/>
            <a:ext cx="4899082" cy="336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8B427-D9FE-46DD-9755-12EA2BE8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Possible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C72A0-D800-4665-8652-E4E630F22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3600" dirty="0"/>
              <a:t>Using ‘fairness’ criteria to assess bias within datasets</a:t>
            </a:r>
          </a:p>
          <a:p>
            <a:r>
              <a:rPr lang="en-NZ" sz="3600" dirty="0"/>
              <a:t>Minimizing bias using processing algorithms</a:t>
            </a:r>
          </a:p>
          <a:p>
            <a:pPr marL="0" indent="0">
              <a:buNone/>
            </a:pPr>
            <a:endParaRPr lang="en-NZ" sz="3600" dirty="0"/>
          </a:p>
        </p:txBody>
      </p:sp>
    </p:spTree>
    <p:extLst>
      <p:ext uri="{BB962C8B-B14F-4D97-AF65-F5344CB8AC3E}">
        <p14:creationId xmlns:p14="http://schemas.microsoft.com/office/powerpoint/2010/main" val="330499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EFB9-3A93-40E7-8376-036989E3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94972-A6C0-4F40-8B2F-90F39FAD8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Train other classification models and tune models to improve accuracy of the base model</a:t>
            </a:r>
          </a:p>
          <a:p>
            <a:pPr lvl="1"/>
            <a:r>
              <a:rPr lang="en-NZ" dirty="0"/>
              <a:t>Rigorous feature selection</a:t>
            </a:r>
          </a:p>
          <a:p>
            <a:pPr lvl="1"/>
            <a:r>
              <a:rPr lang="en-NZ" dirty="0"/>
              <a:t>Possibly using dimension reduction to minimize features</a:t>
            </a:r>
          </a:p>
          <a:p>
            <a:r>
              <a:rPr lang="en-NZ" dirty="0"/>
              <a:t>Assess fairness criteria on tuned models and </a:t>
            </a:r>
            <a:r>
              <a:rPr lang="en-NZ" dirty="0" err="1"/>
              <a:t>analyze</a:t>
            </a:r>
            <a:r>
              <a:rPr lang="en-NZ" dirty="0"/>
              <a:t> the impact on accuracy of processing algorithms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2225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2867</TotalTime>
  <Words>423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Algorithmic Fairness in Cardiovascular Precision Medicine</vt:lpstr>
      <vt:lpstr>What is algorithmic fairness</vt:lpstr>
      <vt:lpstr>Sources of Unfairness</vt:lpstr>
      <vt:lpstr>Aims</vt:lpstr>
      <vt:lpstr>Common Fairness Metrics</vt:lpstr>
      <vt:lpstr>Common Fairness Metrics</vt:lpstr>
      <vt:lpstr>Accuracy parity plot of logistic regression</vt:lpstr>
      <vt:lpstr>Enhancing Fairness of Algorithm </vt:lpstr>
      <vt:lpstr>PowerPoint Presentation</vt:lpstr>
      <vt:lpstr>PowerPoint Presentation</vt:lpstr>
      <vt:lpstr>Possible applications</vt:lpstr>
      <vt:lpstr>Future directions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Fairness in Cardiovascular Precision Medicine</dc:title>
  <dc:creator>Ash Dravid</dc:creator>
  <cp:lastModifiedBy>Ash Dravid</cp:lastModifiedBy>
  <cp:revision>23</cp:revision>
  <dcterms:created xsi:type="dcterms:W3CDTF">2021-01-24T23:21:49Z</dcterms:created>
  <dcterms:modified xsi:type="dcterms:W3CDTF">2021-02-26T01:26:17Z</dcterms:modified>
</cp:coreProperties>
</file>